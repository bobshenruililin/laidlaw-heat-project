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5ac7957c87408a" /><Relationship Type="http://schemas.openxmlformats.org/officeDocument/2006/relationships/extended-properties" Target="/docProps/app.xml" Id="R9b5506eddf3d4aa3" /><Relationship Type="http://schemas.openxmlformats.org/officeDocument/2006/relationships/officeDocument" Target="/ppt/presentation.xml" Id="R241b45889d8f48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3d5f67e9004c87"/>
  </p:sldMasterIdLst>
  <p:notesMasterIdLst>
    <p:notesMasterId xmlns:r="http://schemas.openxmlformats.org/officeDocument/2006/relationships" r:id="R47e51797b01e4228"/>
  </p:notesMasterIdLst>
  <p:sldIdLst>
    <p:sldId xmlns:r="http://schemas.openxmlformats.org/officeDocument/2006/relationships" id="256" r:id="R78c4ef66ec674b2f"/>
    <p:sldId xmlns:r="http://schemas.openxmlformats.org/officeDocument/2006/relationships" id="257" r:id="R12486b69ed6b4bff"/>
    <p:sldId xmlns:r="http://schemas.openxmlformats.org/officeDocument/2006/relationships" id="258" r:id="R2e95f503f6a44a21"/>
    <p:sldId xmlns:r="http://schemas.openxmlformats.org/officeDocument/2006/relationships" id="259" r:id="R615e307fc2d9424b"/>
    <p:sldId xmlns:r="http://schemas.openxmlformats.org/officeDocument/2006/relationships" id="260" r:id="Rd69effa377dc48a4"/>
    <p:sldId xmlns:r="http://schemas.openxmlformats.org/officeDocument/2006/relationships" id="261" r:id="R4507559c7dc74774"/>
    <p:sldId xmlns:r="http://schemas.openxmlformats.org/officeDocument/2006/relationships" id="262" r:id="R0a33c60918ff4aca"/>
    <p:sldId xmlns:r="http://schemas.openxmlformats.org/officeDocument/2006/relationships" id="263" r:id="Rb6b9f616fa524e46"/>
    <p:sldId xmlns:r="http://schemas.openxmlformats.org/officeDocument/2006/relationships" id="264" r:id="Rc9851a2ccb4f41f0"/>
    <p:sldId xmlns:r="http://schemas.openxmlformats.org/officeDocument/2006/relationships" id="265" r:id="Rb520823f3f6b4c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b53822c1324de9" /><Relationship Type="http://schemas.openxmlformats.org/officeDocument/2006/relationships/slideMaster" Target="/ppt/slideMasters/slideMaster1.xml" Id="Re53d5f67e9004c87" /><Relationship Type="http://schemas.openxmlformats.org/officeDocument/2006/relationships/notesMaster" Target="/ppt/notesMasters/notesMaster1.xml" Id="R47e51797b01e4228" /><Relationship Type="http://schemas.openxmlformats.org/officeDocument/2006/relationships/presProps" Target="/ppt/presProps.xml" Id="Rb23a6e58aa25402f" /><Relationship Type="http://schemas.openxmlformats.org/officeDocument/2006/relationships/tableStyles" Target="/ppt/tableStyles.xml" Id="Rfd36609bf9544a1c" /><Relationship Type="http://schemas.openxmlformats.org/officeDocument/2006/relationships/slide" Target="/ppt/slides/slide1.xml" Id="R78c4ef66ec674b2f" /><Relationship Type="http://schemas.openxmlformats.org/officeDocument/2006/relationships/slide" Target="/ppt/slides/slide2.xml" Id="R12486b69ed6b4bff" /><Relationship Type="http://schemas.openxmlformats.org/officeDocument/2006/relationships/slide" Target="/ppt/slides/slide3.xml" Id="R2e95f503f6a44a21" /><Relationship Type="http://schemas.openxmlformats.org/officeDocument/2006/relationships/slide" Target="/ppt/slides/slide4.xml" Id="R615e307fc2d9424b" /><Relationship Type="http://schemas.openxmlformats.org/officeDocument/2006/relationships/slide" Target="/ppt/slides/slide5.xml" Id="Rd69effa377dc48a4" /><Relationship Type="http://schemas.openxmlformats.org/officeDocument/2006/relationships/slide" Target="/ppt/slides/slide6.xml" Id="R4507559c7dc74774" /><Relationship Type="http://schemas.openxmlformats.org/officeDocument/2006/relationships/slide" Target="/ppt/slides/slide7.xml" Id="R0a33c60918ff4aca" /><Relationship Type="http://schemas.openxmlformats.org/officeDocument/2006/relationships/slide" Target="/ppt/slides/slide8.xml" Id="Rb6b9f616fa524e46" /><Relationship Type="http://schemas.openxmlformats.org/officeDocument/2006/relationships/slide" Target="/ppt/slides/slide9.xml" Id="Rc9851a2ccb4f41f0" /><Relationship Type="http://schemas.openxmlformats.org/officeDocument/2006/relationships/slide" Target="/ppt/slides/slide10.xml" Id="Rb520823f3f6b4c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83ccc4acf149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cac95496e74fd7" /><Relationship Type="http://schemas.openxmlformats.org/officeDocument/2006/relationships/notesMaster" Target="/ppt/notesMasters/notesMaster1.xml" Id="R2249cb484af740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9e161a25d34480" /><Relationship Type="http://schemas.openxmlformats.org/officeDocument/2006/relationships/notesMaster" Target="/ppt/notesMasters/notesMaster1.xml" Id="R9c96d4d6f4cf40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61e21b788148b1" /><Relationship Type="http://schemas.openxmlformats.org/officeDocument/2006/relationships/notesMaster" Target="/ppt/notesMasters/notesMaster1.xml" Id="R8fa5b5582b0840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95ea83c21544f3" /><Relationship Type="http://schemas.openxmlformats.org/officeDocument/2006/relationships/notesMaster" Target="/ppt/notesMasters/notesMaster1.xml" Id="Rf20330c9678842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9a9373f8f14d97" /><Relationship Type="http://schemas.openxmlformats.org/officeDocument/2006/relationships/notesMaster" Target="/ppt/notesMasters/notesMaster1.xml" Id="Raf9893acb34e47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34c06f4d7f4c8b" /><Relationship Type="http://schemas.openxmlformats.org/officeDocument/2006/relationships/notesMaster" Target="/ppt/notesMasters/notesMaster1.xml" Id="R2767e2c838a645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f52e8d68b44d9b" /><Relationship Type="http://schemas.openxmlformats.org/officeDocument/2006/relationships/notesMaster" Target="/ppt/notesMasters/notesMaster1.xml" Id="R54bad02389ec48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008f40a22c4a81" /><Relationship Type="http://schemas.openxmlformats.org/officeDocument/2006/relationships/notesMaster" Target="/ppt/notesMasters/notesMaster1.xml" Id="Rff0e144e4b454c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8d45bd74564d3d" /><Relationship Type="http://schemas.openxmlformats.org/officeDocument/2006/relationships/notesMaster" Target="/ppt/notesMasters/notesMaster1.xml" Id="R3e4a5850dbb149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75cb4414ca450b" /><Relationship Type="http://schemas.openxmlformats.org/officeDocument/2006/relationships/notesMaster" Target="/ppt/notesMasters/notesMaster1.xml" Id="R8cbbe917a4c04d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receipt: https://github.com/bobshenruililin/Laidlaw-Heat-Project/blob/b103e96c6761f3409fab6f116c6675b43fdb2ee3/reports/data_receipt_2026-08-07.md</a:t>
            </a:r>
          </a:p>
          <a:p xmlns:a="http://schemas.openxmlformats.org/drawingml/2006/main">
            <a:r>
              <a:t>core: https://github.com/bobshenruililin/Laidlaw-Heat-Project/blob/b103e96c6761f3409fab6f116c6675b43fdb2ee3/outputs/release_chd_hf/tables/table2_core_models.csv</a:t>
            </a:r>
          </a:p>
          <a:p xmlns:a="http://schemas.openxmlformats.org/drawingml/2006/main">
            <a:r>
              <a:t>journal: https://www.nature.com/natcardiovascres/aims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receipt: https://github.com/bobshenruililin/Laidlaw-Heat-Project/blob/b103e96c6761f3409fab6f116c6675b43fdb2ee3/reports/data_receipt_2026-08-07.md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diabetes: https://pubmed.ncbi.nlm.nih.gov/41049877/</a:t>
            </a:r>
          </a:p>
          <a:p xmlns:a="http://schemas.openxmlformats.org/drawingml/2006/main">
            <a:r>
              <a:t>hypertension: https://pubmed.ncbi.nlm.nih.gov/40410292/</a:t>
            </a:r>
          </a:p>
          <a:p xmlns:a="http://schemas.openxmlformats.org/drawingml/2006/main">
            <a:r>
              <a:t>continuity: https://doi.org/10.1111/dom.70984</a:t>
            </a:r>
          </a:p>
          <a:p xmlns:a="http://schemas.openxmlformats.org/drawingml/2006/main">
            <a:r>
              <a:t>Youn2025 and Hu2025: abstracts checked only. Yau2026: full main text checked, supplements not checked. Record-specific locators and unresolved definitions appear in literature/covid_novelty_audit_2026-10-02.md. No reported coefficients are imported.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receipt: https://github.com/bobshenruililin/Laidlaw-Heat-Project/blob/b103e96c6761f3409fab6f116c6675b43fdb2ee3/reports/data_receipt_2026-08-07.md</a:t>
            </a:r>
          </a:p>
          <a:p xmlns:a="http://schemas.openxmlformats.org/drawingml/2006/main">
            <a:r>
              <a:t>core: https://github.com/bobshenruililin/Laidlaw-Heat-Project/blob/b103e96c6761f3409fab6f116c6675b43fdb2ee3/outputs/release_chd_hf/tables/table2_core_models.csv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annual: https://github.com/bobshenruililin/Laidlaw-Heat-Project/blob/b103e96c6761f3409fab6f116c6675b43fdb2ee3/outputs/tables/cvd_descriptive_annual_totals.csv</a:t>
            </a:r>
          </a:p>
          <a:p xmlns:a="http://schemas.openxmlformats.org/drawingml/2006/main">
            <a:r>
              <a:t>HA_APPROVED_AGGREGATE. Annual index = 100 * count / 2013 count, rounded to six decimals for the editable workbook. No population denominator used. An index compares trajectories, not cohort incidence.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sensitivity: https://github.com/bobshenruililin/Laidlaw-Heat-Project/blob/b103e96c6761f3409fab6f116c6675b43fdb2ee3/outputs/tables/cvd_trend_depletion_sensitivity.csv</a:t>
            </a:r>
          </a:p>
          <a:p xmlns:a="http://schemas.openxmlformats.org/drawingml/2006/main">
            <a:r>
              <a:t>core: https://github.com/bobshenruililin/Laidlaw-Heat-Project/blob/b103e96c6761f3409fab6f116c6675b43fdb2ee3/outputs/release_chd_hf/tables/table2_core_models.csv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sensitivity: https://github.com/bobshenruililin/Laidlaw-Heat-Project/blob/b103e96c6761f3409fab6f116c6675b43fdb2ee3/outputs/tables/cvd_trend_depletion_sensitivity.csv</a:t>
            </a:r>
          </a:p>
          <a:p xmlns:a="http://schemas.openxmlformats.org/drawingml/2006/main">
            <a:r>
              <a:t>core: https://github.com/bobshenruililin/Laidlaw-Heat-Project/blob/b103e96c6761f3409fab6f116c6675b43fdb2ee3/outputs/release_chd_hf/tables/table2_core_models.csv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receipt: https://github.com/bobshenruililin/Laidlaw-Heat-Project/blob/b103e96c6761f3409fab6f116c6675b43fdb2ee3/reports/data_receipt_2026-08-07.md</a:t>
            </a:r>
          </a:p>
          <a:p xmlns:a="http://schemas.openxmlformats.org/drawingml/2006/main">
            <a:r>
              <a:t>continuity: https://doi.org/10.1111/dom.70984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receipt: https://github.com/bobshenruililin/Laidlaw-Heat-Project/blob/b103e96c6761f3409fab6f116c6675b43fdb2ee3/reports/data_receipt_2026-08-07.md</a:t>
            </a:r>
          </a:p>
          <a:p xmlns:a="http://schemas.openxmlformats.org/drawingml/2006/main">
            <a:r>
              <a:t>journal: https://www.nature.com/natcardiovascres/aims</a:t>
            </a:r>
          </a:p>
          <a:p xmlns:a="http://schemas.openxmlformats.org/drawingml/2006/main">
            <a:r>
              <a:t>workflows: https://github.com/EvoScientist/EvoSkills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journal submission, author contact or data-transfer approval follows from this briefing. Nature Cardiovascular Research is a fit benchmark, not an acceptance claim.</a:t>
            </a:r>
          </a:p>
          <a:p xmlns:a="http://schemas.openxmlformats.org/drawingml/2006/main">
            <a:r>
              <a:t>https://www.nature.com/natcardiovascres/aims</a:t>
            </a:r>
          </a:p>
          <a:p xmlns:a="http://schemas.openxmlformats.org/drawingml/2006/main">
            <a:r>
              <a:t>https://github.com/EvoScientist/EvoSkills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e783be3ec41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02ff07f6f24274" /><Relationship Type="http://schemas.openxmlformats.org/officeDocument/2006/relationships/slideLayout" Target="/ppt/slideLayouts/slideLayout1.xml" Id="Rd2b5ec08b61b4c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b5ec08b61b4c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2fe4b605441ea" /><Relationship Type="http://schemas.openxmlformats.org/officeDocument/2006/relationships/notesSlide" Target="/ppt/notesSlides/notesSlide1.xml" Id="R57810dabde6643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596ac9295d4fb6" /><Relationship Type="http://schemas.openxmlformats.org/officeDocument/2006/relationships/notesSlide" Target="/ppt/notesSlides/notesSlide2.xml" Id="Rccc8c1cc2d5947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efebc205142cd" /><Relationship Type="http://schemas.openxmlformats.org/officeDocument/2006/relationships/notesSlide" Target="/ppt/notesSlides/notesSlide3.xml" Id="Re3e7c0e2be5b47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ce471ca224e88" /><Relationship Type="http://schemas.openxmlformats.org/officeDocument/2006/relationships/notesSlide" Target="/ppt/notesSlides/notesSlide4.xml" Id="Rb86360cf130345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b1b5416404745" /><Relationship Type="http://schemas.openxmlformats.org/officeDocument/2006/relationships/chart" Target="/ppt/slides/charts/chart1.xml" Id="Ra5b1801814a6409f" /><Relationship Type="http://schemas.openxmlformats.org/officeDocument/2006/relationships/notesSlide" Target="/ppt/notesSlides/notesSlide5.xml" Id="R5a0a02b50efa40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f285adcc4459f" /><Relationship Type="http://schemas.openxmlformats.org/officeDocument/2006/relationships/notesSlide" Target="/ppt/notesSlides/notesSlide6.xml" Id="R320896ce00f744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b873fe5314ee2" /><Relationship Type="http://schemas.openxmlformats.org/officeDocument/2006/relationships/notesSlide" Target="/ppt/notesSlides/notesSlide7.xml" Id="Ra369a96bf19843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92486e18d94286" /><Relationship Type="http://schemas.openxmlformats.org/officeDocument/2006/relationships/notesSlide" Target="/ppt/notesSlides/notesSlide8.xml" Id="Rdc446670410649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0817f61164f58" /><Relationship Type="http://schemas.openxmlformats.org/officeDocument/2006/relationships/notesSlide" Target="/ppt/notesSlides/notesSlide9.xml" Id="Rc9560d024fe740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e1c4493564e24" /><Relationship Type="http://schemas.openxmlformats.org/officeDocument/2006/relationships/notesSlide" Target="/ppt/notesSlides/notesSlide10.xml" Id="Ra720995a38b24cd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283D47"/>
                </a:solidFill>
                <a:latin typeface="Arial"/>
                <a:ea typeface="Arial"/>
                <a:cs typeface="Arial"/>
              </a:rPr>
              <a:t>Annual recorded first-hospitalisation counts (2013 = 100)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283D47"/>
              </a:solidFill>
              <a:latin typeface="Arial"/>
              <a:ea typeface="Arial"/>
              <a:cs typeface="Arial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CHD</c:v>
          </c:tx>
          <c:spPr>
            <a:solidFill xmlns:a="http://schemas.openxmlformats.org/drawingml/2006/main">
              <a:srgbClr val="14685F"/>
            </a:solidFill>
            <a:ln xmlns:a="http://schemas.openxmlformats.org/drawingml/2006/main" w="28575">
              <a:solidFill>
                <a:srgbClr val="14685F"/>
              </a:solidFill>
            </a:ln>
          </c:spPr>
          <c:marker>
            <c:symbol val="none"/>
          </c:marker>
          <c:cat>
            <c:numRef>
              <c:f>'Chart Data'!$A$2:$A$12</c:f>
              <c:numCache>
                <c:formatCode>0</c:formatCode>
                <c:ptCount val="11"/>
                <c:pt idx="0">
                  <c:v>2013</c:v>
                </c:pt>
                <c:pt idx="1">
                  <c:v>2014</c:v>
                </c:pt>
                <c:pt idx="2">
                  <c:v>2015</c:v>
                </c:pt>
                <c:pt idx="3">
                  <c:v>2016</c:v>
                </c:pt>
                <c:pt idx="4">
                  <c:v>2017</c:v>
                </c:pt>
                <c:pt idx="5">
                  <c:v>2018</c:v>
                </c:pt>
                <c:pt idx="6">
                  <c:v>2019</c:v>
                </c:pt>
                <c:pt idx="7">
                  <c:v>2020</c:v>
                </c:pt>
                <c:pt idx="8">
                  <c:v>2021</c:v>
                </c:pt>
                <c:pt idx="9">
                  <c:v>2022</c:v>
                </c:pt>
                <c:pt idx="10">
                  <c:v>2023</c:v>
                </c:pt>
              </c:numCache>
            </c:numRef>
          </c:cat>
          <c:val>
            <c:numRef>
              <c:f>'Chart Data'!$B$2:$B$12</c:f>
              <c:numCache>
                <c:formatCode>0</c:formatCode>
                <c:ptCount val="11"/>
                <c:pt idx="0">
                  <c:v>100</c:v>
                </c:pt>
                <c:pt idx="1">
                  <c:v>74.527906</c:v>
                </c:pt>
                <c:pt idx="2">
                  <c:v>64.670583</c:v>
                </c:pt>
                <c:pt idx="3">
                  <c:v>60.889635</c:v>
                </c:pt>
                <c:pt idx="4">
                  <c:v>58.590013</c:v>
                </c:pt>
                <c:pt idx="5">
                  <c:v>52.94167</c:v>
                </c:pt>
                <c:pt idx="6">
                  <c:v>52.018464</c:v>
                </c:pt>
                <c:pt idx="7">
                  <c:v>42.958456</c:v>
                </c:pt>
                <c:pt idx="8">
                  <c:v>50.503567</c:v>
                </c:pt>
                <c:pt idx="9">
                  <c:v>46.479228</c:v>
                </c:pt>
                <c:pt idx="10">
                  <c:v>51.712128</c:v>
                </c:pt>
              </c:numCache>
            </c:numRef>
          </c:val>
          <c:smooth val="0"/>
        </c:ser>
        <c:ser>
          <c:idx val="1"/>
          <c:order val="1"/>
          <c:tx>
            <c:v>HF</c:v>
          </c:tx>
          <c:spPr>
            <a:solidFill xmlns:a="http://schemas.openxmlformats.org/drawingml/2006/main">
              <a:srgbClr val="8C4052"/>
            </a:solidFill>
            <a:ln xmlns:a="http://schemas.openxmlformats.org/drawingml/2006/main" w="28575">
              <a:solidFill>
                <a:srgbClr val="8C4052"/>
              </a:solidFill>
            </a:ln>
          </c:spPr>
          <c:marker>
            <c:symbol val="none"/>
          </c:marker>
          <c:cat>
            <c:numRef>
              <c:f>'Chart Data'!$C$2:$C$12</c:f>
              <c:numCache>
                <c:formatCode>0</c:formatCode>
                <c:ptCount val="11"/>
                <c:pt idx="0">
                  <c:v>2013</c:v>
                </c:pt>
                <c:pt idx="1">
                  <c:v>2014</c:v>
                </c:pt>
                <c:pt idx="2">
                  <c:v>2015</c:v>
                </c:pt>
                <c:pt idx="3">
                  <c:v>2016</c:v>
                </c:pt>
                <c:pt idx="4">
                  <c:v>2017</c:v>
                </c:pt>
                <c:pt idx="5">
                  <c:v>2018</c:v>
                </c:pt>
                <c:pt idx="6">
                  <c:v>2019</c:v>
                </c:pt>
                <c:pt idx="7">
                  <c:v>2020</c:v>
                </c:pt>
                <c:pt idx="8">
                  <c:v>2021</c:v>
                </c:pt>
                <c:pt idx="9">
                  <c:v>2022</c:v>
                </c:pt>
                <c:pt idx="10">
                  <c:v>2023</c:v>
                </c:pt>
              </c:numCache>
            </c:numRef>
          </c:cat>
          <c:val>
            <c:numRef>
              <c:f>'Chart Data'!$D$2:$D$12</c:f>
              <c:numCache>
                <c:formatCode>0</c:formatCode>
                <c:ptCount val="11"/>
                <c:pt idx="0">
                  <c:v>100</c:v>
                </c:pt>
                <c:pt idx="1">
                  <c:v>84.755535</c:v>
                </c:pt>
                <c:pt idx="2">
                  <c:v>67.666052</c:v>
                </c:pt>
                <c:pt idx="3">
                  <c:v>63.053506</c:v>
                </c:pt>
                <c:pt idx="4">
                  <c:v>60.424354</c:v>
                </c:pt>
                <c:pt idx="5">
                  <c:v>58.27952</c:v>
                </c:pt>
                <c:pt idx="6">
                  <c:v>54.059041</c:v>
                </c:pt>
                <c:pt idx="7">
                  <c:v>45.295203</c:v>
                </c:pt>
                <c:pt idx="8">
                  <c:v>52.467712</c:v>
                </c:pt>
                <c:pt idx="9">
                  <c:v>45.571956</c:v>
                </c:pt>
                <c:pt idx="10">
                  <c:v>52.95203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10"/>
          <c:min val="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9161A-C895-476C-815E-E356AB2F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Research State Briefing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D2B89-95DD-43C5-9E00-8AB9BCDD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6867B-4A0B-4487-ADBF-A82BD186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1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4BBA5-39E2-446E-BE51-9348E038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receipt, core, journal. Links and scientific limits in notes.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4D899F-8FEB-4903-B823-A7025DA7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Why did recorded</a:t>
            </a:r>
          </a:p>
          <a:p xmlns:a="http://schemas.openxmlformats.org/drawingml/2006/main">
            <a:pPr>
              <a:defRPr sz="40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hospitalisations change?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970AC8-BAA8-4E48-B85C-999DD01B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4685F"/>
                </a:solidFill>
                <a:latin typeface="Arial"/>
                <a:ea typeface="Arial"/>
                <a:cs typeface="Arial"/>
              </a:rPr>
              <a:t>Evidence-supported manuscript and next-study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DA09B-ADF5-41EE-82F6-9712F482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Available evidence: count trajectories and exploratory weather models.</a:t>
            </a:r>
          </a:p>
          <a:p xmlns:a="http://schemas.openxmlformats.org/drawingml/2006/main">
            <a:pPr>
              <a:defRPr sz="2100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Clinical mechanisms, cohort incidence and causal COVID effects remain unresolved.</a:t>
            </a:r>
          </a:p>
        </p:txBody>
      </p:sp>
    </p:spTree>
    <p:extLst>
      <p:ext uri="{BB962C8B-B14F-4D97-AF65-F5344CB8AC3E}">
        <p14:creationId xmlns:p14="http://schemas.microsoft.com/office/powerpoint/2010/main" val="3576546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ED8E0-AE76-42B1-AD26-B3E51328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What the present outcome records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2F6ED8-4A1E-4D62-9878-C5917773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8D682-2CB7-4A6F-8D51-FC703CAF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2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42396-0006-4116-8023-037D1F3B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receipt. Links and scientific limits in notes.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590675"/>
          <a:ext xmlns:a="http://schemas.openxmlformats.org/drawingml/2006/main" cx="109728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4352925"/>
                <a:gridCol w="4476750"/>
              </a:tblGrid>
              <a:tr h="845344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Component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evidence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Boundary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</a:tr>
              <a:tr h="84534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Population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T2D and/or hypertension diagnosed during 2013-2023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Entry, exits and risk-set construction need query confirmation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84534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Event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First recorded hospitalisation after first CHD/HF diagnosis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Admission cause is unavailable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84534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Scale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132 territory-month counts per outcome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No linked clinical measurements or eligible person-time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E45A0-13A4-4858-B3EF-A2E9EB9E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685F"/>
                </a:solidFill>
                <a:latin typeface="Arial"/>
                <a:ea typeface="Arial"/>
                <a:cs typeface="Arial"/>
              </a:rPr>
              <a:t>An underlying clinical change, a care-use change or an extraction change</a:t>
            </a:r>
          </a:p>
          <a:p xmlns:a="http://schemas.openxmlformats.org/drawingml/2006/main">
            <a:pPr>
              <a:defRPr sz="2025" b="0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685F"/>
                </a:solidFill>
                <a:latin typeface="Arial"/>
                <a:ea typeface="Arial"/>
                <a:cs typeface="Arial"/>
              </a:rPr>
              <a:t>can alter the same recorded endpoint.</a:t>
            </a:r>
          </a:p>
        </p:txBody>
      </p:sp>
    </p:spTree>
    <p:extLst>
      <p:ext uri="{BB962C8B-B14F-4D97-AF65-F5344CB8AC3E}">
        <p14:creationId xmlns:p14="http://schemas.microsoft.com/office/powerpoint/2010/main" val="1457174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61DF66-4E43-42EE-945F-E93C95A8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Recent studies raise the novelty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853CC-1E1D-4D11-BC7C-0B4AEEAA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F0525-F345-41DD-9D94-AF006665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3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FE2766-9998-425C-BAE0-A9113669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diabetes, hypertension, continuity. Links and scientific limits in notes.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609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90800"/>
                <a:gridCol w="4305300"/>
                <a:gridCol w="4076700"/>
              </a:tblGrid>
              <a:tr h="902494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 study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Overlapping contribution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Implication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Diabetes, 2025</a:t>
                      </a:r>
                    </a:p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Hong Kong and Korea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Cardiovascular outcomes, mortality and healthcare use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Another diabetes admissions trend needs a new question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Hypertension, 2025</a:t>
                      </a:r>
                    </a:p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Hong Kong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Cardiovascular outcomes and blood-pressure control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Adding blood pressure alone does not establish novelty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Care continuity, 2026</a:t>
                      </a:r>
                    </a:p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Yau et al.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CHD/HF, clinical covariates and competing death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Later follow-up and clinical linkage already have precedent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34FDE-7279-46D5-94F5-EEE19ED4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685F"/>
                </a:solidFill>
                <a:latin typeface="Arial"/>
                <a:ea typeface="Arial"/>
                <a:cs typeface="Arial"/>
              </a:rPr>
              <a:t>Candidate contribution: discriminate disease change from observation change.</a:t>
            </a:r>
          </a:p>
          <a:p xmlns:a="http://schemas.openxmlformats.org/drawingml/2006/main">
            <a:pPr>
              <a:defRPr sz="1950" b="0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685F"/>
                </a:solidFill>
                <a:latin typeface="Arial"/>
                <a:ea typeface="Arial"/>
                <a:cs typeface="Arial"/>
              </a:rPr>
              <a:t>A novelty gate must confirm that contribution before committing to the expanded study.</a:t>
            </a:r>
          </a:p>
        </p:txBody>
      </p:sp>
    </p:spTree>
    <p:extLst>
      <p:ext uri="{BB962C8B-B14F-4D97-AF65-F5344CB8AC3E}">
        <p14:creationId xmlns:p14="http://schemas.microsoft.com/office/powerpoint/2010/main" val="9199929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B8A1F-7770-45D3-9FF7-2741E48F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Distinct targets require distinct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9FF62E-E45C-4A38-887F-CE4B6584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FEC2F1-A6C0-4443-8416-5E6376D0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4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2D94D-8011-464D-95E9-35B0DC9B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receipt, core. Links and scientific limits in notes.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705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000500"/>
              </a:tblGrid>
              <a:tr h="74104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Required data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status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</a:tr>
              <a:tr h="74104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Recorded burden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Counts with stable extraction definitions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Available, definitions partly unresolved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74104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Cohort incidence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Validated events and eligible person-time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Requires new governed data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74104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Changing weather association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Full-series common basis and direct interaction contrast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Not estimated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74104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Causal health-system mechanism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Defined intervention and defensible identification assumptions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Not identified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FF268-90CD-4305-8A36-D50244C7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685F"/>
                </a:solidFill>
                <a:latin typeface="Arial"/>
                <a:ea typeface="Arial"/>
                <a:cs typeface="Arial"/>
              </a:rPr>
              <a:t>Calendar periods describe context. They do not by themselves define</a:t>
            </a:r>
          </a:p>
          <a:p xmlns:a="http://schemas.openxmlformats.org/drawingml/2006/main">
            <a:pPr>
              <a:defRPr sz="1875" b="0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685F"/>
                </a:solidFill>
                <a:latin typeface="Arial"/>
                <a:ea typeface="Arial"/>
                <a:cs typeface="Arial"/>
              </a:rPr>
              <a:t>a treatment, valid comparator or causal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10822231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E141C-1A30-444A-AAA1-9CEDB7A5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Recorded counts declined before 2020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701F77-03E6-49A0-B0BC-F6F210B3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009910-4D2F-4656-A33E-25BE428B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5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B1BE8-33D6-4B01-B28A-3AEA00EB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annual. Links and scientific limits in notes.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09600" y="1457325"/>
          <a:ext xmlns:a="http://schemas.openxmlformats.org/drawingml/2006/main" cx="10972800" cy="3762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b1801814a6409f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05411-F0E0-49FC-B014-30E76D8E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Both series were already near half their 2013 totals by 2019.</a:t>
            </a:r>
          </a:p>
          <a:p xmlns:a="http://schemas.openxmlformats.org/drawingml/2006/main">
            <a:pPr>
              <a:defRPr sz="202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The 2020 trough and later recovery require a separate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048290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9A00B-C6AC-411B-A1C6-422C1880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Overlapping windows do not test a period effect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15DB7-A97B-4C14-B57E-3F1A0D78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5BC15-5E52-43CE-B34B-EF695DE8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6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522E5-3D34-4D79-A69B-53DF25F0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sensitivity, core. Links and scientific limits in notes.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152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3486150"/>
                <a:gridCol w="3486150"/>
              </a:tblGrid>
              <a:tr h="788194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Count ratio per five days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2013-2019</a:t>
                      </a:r>
                    </a:p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84 months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2013-2023</a:t>
                      </a:r>
                    </a:p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132 months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</a:tr>
              <a:tr h="788194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HF cold days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1.113 (1.053-1.176)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1.073 (1.006-1.144)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788194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CHD cold days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1.036 (1.007-1.067)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0.995 (0.949-1.043)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788194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CHD hot nights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1.011 (0.991-1.032)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1.022 (1.002-1.042)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6D1288-5B82-4B6D-A4D1-22C9A49E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These examples use Newey-West lag-6 intervals. The 84 months are nested</a:t>
            </a:r>
          </a:p>
          <a:p xmlns:a="http://schemas.openxmlformats.org/drawingml/2006/main">
            <a:pPr>
              <a:defRPr sz="1950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inside 132, and subsetting changes spline bases and exposure support.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1C1E78-A799-4D30-BAB5-2430BFAD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685F"/>
                </a:solidFill>
                <a:latin typeface="Arial"/>
                <a:ea typeface="Arial"/>
                <a:cs typeface="Arial"/>
              </a:rPr>
              <a:t>No separate post-period model or formal period-difference test exists.</a:t>
            </a:r>
          </a:p>
        </p:txBody>
      </p:sp>
    </p:spTree>
    <p:extLst>
      <p:ext uri="{BB962C8B-B14F-4D97-AF65-F5344CB8AC3E}">
        <p14:creationId xmlns:p14="http://schemas.microsoft.com/office/powerpoint/2010/main" val="20110502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EF3023-1714-48A8-8191-740AC33A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Model criticism limits 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CACC2-8B0A-4912-99FD-0B691C15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4E1C1-0FC7-4764-878C-4A7E2AC3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26B8E-52D7-4D42-BE0F-F5490FE2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sensitivity, core. Links and scientific limits in notes.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686300"/>
                <a:gridCol w="3905250"/>
              </a:tblGrid>
              <a:tr h="7715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issue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Consequence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Calendar control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HF cold-day interval includes 1 under 8 df and year effects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Baseline interval exclusion is fragile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Start-window control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Omitting 24 initial months weakens the HF cold-day estimate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Entry or early extraction remains a rival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Covariance and multiplicity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CHD hot nights depends on SE method. All core BH q &gt; 0.19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No protected thermal discovery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Design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Nested window changes mix support, trend and period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A common-basis interaction still needs new execution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59E7F-2561-4BF2-83C8-68A0B9A3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685F"/>
                </a:solidFill>
                <a:latin typeface="Arial"/>
                <a:ea typeface="Arial"/>
                <a:cs typeface="Arial"/>
              </a:rPr>
              <a:t>The complete released panel remains visible. No preferred fit rescues a headline.</a:t>
            </a:r>
          </a:p>
        </p:txBody>
      </p:sp>
    </p:spTree>
    <p:extLst>
      <p:ext uri="{BB962C8B-B14F-4D97-AF65-F5344CB8AC3E}">
        <p14:creationId xmlns:p14="http://schemas.microsoft.com/office/powerpoint/2010/main" val="5820512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B9AD9C-AC8F-4137-9AEA-13DF35E9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Rivals make different predictions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CE24A-E89D-408E-A267-89B60E7A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0EE26-5ACF-4FBD-A7E1-723A69F0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8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96101-7F96-4179-9D30-5FD8E263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receipt, continuity. Links and scientific limits in notes.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543050"/>
          <a:ext xmlns:a="http://schemas.openxmlformats.org/drawingml/2006/main" cx="10972800" cy="4019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33650"/>
                <a:gridCol w="4695825"/>
                <a:gridCol w="3743325"/>
              </a:tblGrid>
              <a:tr h="80391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Explanation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Discriminating evidence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Failure mode</a:t>
                      </a:r>
                    </a:p>
                  </a:txBody>
                  <a:tcPr marL="133350" marR="133350" marT="114300" marB="95250" anchor="ctr">
                    <a:solidFill>
                      <a:srgbClr val="183343"/>
                    </a:solidFill>
                  </a:tcPr>
                </a:tc>
              </a:tr>
              <a:tr h="80391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Improved underlying health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Validated event rates and clinical change beyond selected attendance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Retained attenders alone can create apparent improvement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80391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Reduced or delayed care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Contacts, delayed presentation and mortality linkage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Fewer admissions alone cannot distinguish care from disease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80391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Changed risk set or recording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Entry, prior events, exits and stable event construction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Counts can move without a change in event propensity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  <a:tr h="80391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Respiratory or thermal context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Matched coverage and formal common-basis contrasts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83D47"/>
                          </a:solidFill>
                          <a:latin typeface="Arial"/>
                          <a:ea typeface="Arial"/>
                          <a:cs typeface="Arial"/>
                        </a:rPr>
                        <a:t>Adjustment alone does not establish mediation</a:t>
                      </a:r>
                    </a:p>
                  </a:txBody>
                  <a:tcPr marL="133350" marR="13335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6EAAA-1A6A-4A53-ABAC-0B215AE2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4685F"/>
                </a:solidFill>
                <a:latin typeface="Arial"/>
                <a:ea typeface="Arial"/>
                <a:cs typeface="Arial"/>
              </a:rPr>
              <a:t>Multiple explanations may coexist. Severe tests need power to distinguish them.</a:t>
            </a:r>
          </a:p>
        </p:txBody>
      </p:sp>
    </p:spTree>
    <p:extLst>
      <p:ext uri="{BB962C8B-B14F-4D97-AF65-F5344CB8AC3E}">
        <p14:creationId xmlns:p14="http://schemas.microsoft.com/office/powerpoint/2010/main" val="3571536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B216A-526C-44D0-BBE0-B95C6785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The expanded study has a feasibility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505B22-4271-45DB-BB79-EAFF3D89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2C824-796D-4036-978D-3A0BDA8A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9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0E9AE-FAAC-4E02-9656-224B6E9B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receipt, journal, workflows. Links and scientific limits in notes.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76BFBB-B47F-4094-9FDC-99292DE8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685F"/>
                </a:solidFill>
                <a:latin typeface="Arial"/>
                <a:ea typeface="Arial"/>
                <a:cs typeface="Arial"/>
              </a:rPr>
              <a:t>READY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0450CF-8220-4B1E-8838-D7986566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38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Exploratory manuscript and source-linked figures</a:t>
            </a:r>
          </a:p>
          <a:p xmlns:a="http://schemas.openxmlformats.org/drawingml/2006/main">
            <a:pPr>
              <a:defRPr sz="217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Novelty and measurement audit</a:t>
            </a:r>
          </a:p>
          <a:p xmlns:a="http://schemas.openxmlformats.org/drawingml/2006/main">
            <a:pPr>
              <a:defRPr sz="217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Draft governed request and rival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063FD2-D951-4AC9-A22E-1FC7E951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5219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8C405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C4052"/>
                </a:solidFill>
                <a:latin typeface="Arial"/>
                <a:ea typeface="Arial"/>
                <a:cs typeface="Arial"/>
              </a:rPr>
              <a:t>NOT READY FOR A MECHANISM CLAIM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B86CA-0DB0-4AD5-8A18-237BA21C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2197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No new transfer or approved model output</a:t>
            </a:r>
          </a:p>
          <a:p xmlns:a="http://schemas.openxmlformats.org/drawingml/2006/main">
            <a:pPr>
              <a:defRPr sz="217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No cohort person-time or clinical linkage</a:t>
            </a:r>
          </a:p>
          <a:p xmlns:a="http://schemas.openxmlformats.org/drawingml/2006/main">
            <a:pPr>
              <a:defRPr sz="217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No independent validation cohort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3B0B7-247D-465E-996D-C819E07A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Proceed only if verified fields can separate the explanations and the question</a:t>
            </a:r>
          </a:p>
          <a:p xmlns:a="http://schemas.openxmlformats.org/drawingml/2006/main">
            <a:pPr>
              <a:defRPr sz="2175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adds to the closest studies. Otherwise narrow the claim and reconsider journal fit.</a:t>
            </a:r>
          </a:p>
        </p:txBody>
      </p:sp>
    </p:spTree>
    <p:extLst>
      <p:ext uri="{BB962C8B-B14F-4D97-AF65-F5344CB8AC3E}">
        <p14:creationId xmlns:p14="http://schemas.microsoft.com/office/powerpoint/2010/main" val="473470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0F51D-AE4C-4820-9EB2-BED7DB41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3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343"/>
                </a:solidFill>
                <a:latin typeface="Arial"/>
                <a:ea typeface="Arial"/>
                <a:cs typeface="Arial"/>
              </a:rPr>
              <a:t>Next sequence and submission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27B30-D11C-44A6-AD05-A8207F9A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LAIDLAW  INTERNAL RESEARCH STATE  2 OCT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7566B-2F9F-4568-B96D-302FFCD8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4842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0250CD-1E79-4DB9-9E58-30B66D51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769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76971"/>
                </a:solidFill>
                <a:latin typeface="Arial"/>
                <a:ea typeface="Arial"/>
                <a:cs typeface="Arial"/>
              </a:rPr>
              <a:t>Sources: journal, workflows. Links and scientific limits in notes.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6BB80-9AD7-41A7-A7BF-D43FAA86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685F"/>
                </a:solidFill>
                <a:latin typeface="Arial"/>
                <a:ea typeface="Arial"/>
                <a:cs typeface="Arial"/>
              </a:rPr>
              <a:t>1  DATA AND NOVELTY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D7EBA-0077-4F70-8E2B-F2CECCCF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Review request, verify schema and close the specific novelty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593817-B58D-4CEA-A12D-932F2221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685F"/>
                </a:solidFill>
                <a:latin typeface="Arial"/>
                <a:ea typeface="Arial"/>
                <a:cs typeface="Arial"/>
              </a:rPr>
              <a:t>2  DESIGN FREEZE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31DC1-8DE1-448C-90B5-43A9D1C0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Prespecify estimands, rivals, error-detection tests and validation before new fits.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B8DCB1-E2D2-4EF7-9C57-8A20CFCF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685F"/>
                </a:solidFill>
                <a:latin typeface="Arial"/>
                <a:ea typeface="Arial"/>
                <a:cs typeface="Arial"/>
              </a:rPr>
              <a:t>3  SECURE EXECUTION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3099A-1827-42CB-8452-3BECD20F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Run in the approved environment. Release reviewed aggregate outputs only.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2F57F5-8ED6-4710-BE2A-BCB3D457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685F"/>
                </a:solidFill>
                <a:latin typeface="Arial"/>
                <a:ea typeface="Arial"/>
                <a:cs typeface="Arial"/>
              </a:rPr>
              <a:t>4  INDEPENDENT CRITICISM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D48AC-CAFF-460E-BA1F-88AF1EE2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Review identifiability, calibration, missingness and discordant results.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D1A143-2F11-4132-A256-7E7A4B80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685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685F"/>
                </a:solidFill>
                <a:latin typeface="Arial"/>
                <a:ea typeface="Arial"/>
                <a:cs typeface="Arial"/>
              </a:rPr>
              <a:t>5  MANUSCRIPT AND VENUE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CE6984-8F82-42CD-852D-3D0329A2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D4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D47"/>
                </a:solidFill>
                <a:latin typeface="Arial"/>
                <a:ea typeface="Arial"/>
                <a:cs typeface="Arial"/>
              </a:rPr>
              <a:t>Complete human ethics and authorship facts, then select the journal from evidence.</a:t>
            </a:r>
          </a:p>
        </p:txBody>
      </p:sp>
    </p:spTree>
    <p:extLst>
      <p:ext uri="{BB962C8B-B14F-4D97-AF65-F5344CB8AC3E}">
        <p14:creationId xmlns:p14="http://schemas.microsoft.com/office/powerpoint/2010/main" val="5665729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2026-10-02T09:16:56.8640000Z</dcterms:created>
  <dcterms:modified xsi:type="dcterms:W3CDTF">2026-10-02T09:16:56.8640000Z</dcterms:modified>
</coreProperties>
</file>