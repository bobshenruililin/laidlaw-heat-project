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4dfbe8b6b44e3" /><Relationship Type="http://schemas.openxmlformats.org/officeDocument/2006/relationships/extended-properties" Target="/docProps/app.xml" Id="Rab6464d4bfd8488e" /><Relationship Type="http://schemas.openxmlformats.org/officeDocument/2006/relationships/officeDocument" Target="/ppt/presentation.xml" Id="R68ada2263ccd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c8751153e14321"/>
  </p:sldMasterIdLst>
  <p:notesMasterIdLst>
    <p:notesMasterId xmlns:r="http://schemas.openxmlformats.org/officeDocument/2006/relationships" r:id="R879748d050d34fa3"/>
  </p:notesMasterIdLst>
  <p:sldIdLst>
    <p:sldId xmlns:r="http://schemas.openxmlformats.org/officeDocument/2006/relationships" id="256" r:id="Re076c6b3f1e64711"/>
    <p:sldId xmlns:r="http://schemas.openxmlformats.org/officeDocument/2006/relationships" id="257" r:id="R0a7b4773141c48ae"/>
    <p:sldId xmlns:r="http://schemas.openxmlformats.org/officeDocument/2006/relationships" id="258" r:id="R71423621359849ed"/>
    <p:sldId xmlns:r="http://schemas.openxmlformats.org/officeDocument/2006/relationships" id="259" r:id="R3dc1666b0d534d9e"/>
    <p:sldId xmlns:r="http://schemas.openxmlformats.org/officeDocument/2006/relationships" id="260" r:id="R3bc8a40886d74519"/>
    <p:sldId xmlns:r="http://schemas.openxmlformats.org/officeDocument/2006/relationships" id="261" r:id="R45e163064ad544a1"/>
    <p:sldId xmlns:r="http://schemas.openxmlformats.org/officeDocument/2006/relationships" id="262" r:id="Rc5d7fa64a27242bf"/>
    <p:sldId xmlns:r="http://schemas.openxmlformats.org/officeDocument/2006/relationships" id="263" r:id="R5f6cea036f624715"/>
    <p:sldId xmlns:r="http://schemas.openxmlformats.org/officeDocument/2006/relationships" id="264" r:id="Rbda879f2360c4535"/>
    <p:sldId xmlns:r="http://schemas.openxmlformats.org/officeDocument/2006/relationships" id="265" r:id="Rdbc70231bc5141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c1d442c694992" /><Relationship Type="http://schemas.openxmlformats.org/officeDocument/2006/relationships/slideMaster" Target="/ppt/slideMasters/slideMaster1.xml" Id="R3bc8751153e14321" /><Relationship Type="http://schemas.openxmlformats.org/officeDocument/2006/relationships/notesMaster" Target="/ppt/notesMasters/notesMaster1.xml" Id="R879748d050d34fa3" /><Relationship Type="http://schemas.openxmlformats.org/officeDocument/2006/relationships/presProps" Target="/ppt/presProps.xml" Id="Rb29442a47bd04f19" /><Relationship Type="http://schemas.openxmlformats.org/officeDocument/2006/relationships/tableStyles" Target="/ppt/tableStyles.xml" Id="R0d2e90b35d3a41fc" /><Relationship Type="http://schemas.openxmlformats.org/officeDocument/2006/relationships/slide" Target="/ppt/slides/slide1.xml" Id="Re076c6b3f1e64711" /><Relationship Type="http://schemas.openxmlformats.org/officeDocument/2006/relationships/slide" Target="/ppt/slides/slide2.xml" Id="R0a7b4773141c48ae" /><Relationship Type="http://schemas.openxmlformats.org/officeDocument/2006/relationships/slide" Target="/ppt/slides/slide3.xml" Id="R71423621359849ed" /><Relationship Type="http://schemas.openxmlformats.org/officeDocument/2006/relationships/slide" Target="/ppt/slides/slide4.xml" Id="R3dc1666b0d534d9e" /><Relationship Type="http://schemas.openxmlformats.org/officeDocument/2006/relationships/slide" Target="/ppt/slides/slide5.xml" Id="R3bc8a40886d74519" /><Relationship Type="http://schemas.openxmlformats.org/officeDocument/2006/relationships/slide" Target="/ppt/slides/slide6.xml" Id="R45e163064ad544a1" /><Relationship Type="http://schemas.openxmlformats.org/officeDocument/2006/relationships/slide" Target="/ppt/slides/slide7.xml" Id="Rc5d7fa64a27242bf" /><Relationship Type="http://schemas.openxmlformats.org/officeDocument/2006/relationships/slide" Target="/ppt/slides/slide8.xml" Id="R5f6cea036f624715" /><Relationship Type="http://schemas.openxmlformats.org/officeDocument/2006/relationships/slide" Target="/ppt/slides/slide9.xml" Id="Rbda879f2360c4535" /><Relationship Type="http://schemas.openxmlformats.org/officeDocument/2006/relationships/slide" Target="/ppt/slides/slide10.xml" Id="Rdbc70231bc5141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bd26099a1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6b79477664c03" /><Relationship Type="http://schemas.openxmlformats.org/officeDocument/2006/relationships/notesMaster" Target="/ppt/notesMasters/notesMaster1.xml" Id="Rc7ef6fbddcb54b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c4e56d39e4515" /><Relationship Type="http://schemas.openxmlformats.org/officeDocument/2006/relationships/notesMaster" Target="/ppt/notesMasters/notesMaster1.xml" Id="R4425359502864b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48a713573e4b36" /><Relationship Type="http://schemas.openxmlformats.org/officeDocument/2006/relationships/notesMaster" Target="/ppt/notesMasters/notesMaster1.xml" Id="R75154cd23b8c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9f09a1e7084a11" /><Relationship Type="http://schemas.openxmlformats.org/officeDocument/2006/relationships/notesMaster" Target="/ppt/notesMasters/notesMaster1.xml" Id="R82efece6450d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afed151be47b7" /><Relationship Type="http://schemas.openxmlformats.org/officeDocument/2006/relationships/notesMaster" Target="/ppt/notesMasters/notesMaster1.xml" Id="R6bb40a54bd4248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a9dcffd4d74c53" /><Relationship Type="http://schemas.openxmlformats.org/officeDocument/2006/relationships/notesMaster" Target="/ppt/notesMasters/notesMaster1.xml" Id="Ra7e702909fe64f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4d5488ca54f8a" /><Relationship Type="http://schemas.openxmlformats.org/officeDocument/2006/relationships/notesMaster" Target="/ppt/notesMasters/notesMaster1.xml" Id="R2fe5dd985daf4b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5f518083ee4aed" /><Relationship Type="http://schemas.openxmlformats.org/officeDocument/2006/relationships/notesMaster" Target="/ppt/notesMasters/notesMaster1.xml" Id="Re04cadabc91e4b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7374f3aa8d4cd3" /><Relationship Type="http://schemas.openxmlformats.org/officeDocument/2006/relationships/notesMaster" Target="/ppt/notesMasters/notesMaster1.xml" Id="R37f930c7dede40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0bdde51f0b49b0" /><Relationship Type="http://schemas.openxmlformats.org/officeDocument/2006/relationships/notesMaster" Target="/ppt/notesMasters/notesMaster1.xml" Id="Ra7633dfc60c8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C02: https://github.com/bobshenruililin/Laidlaw-Heat-Project/blob/b103e96c6761f3409fab6f116c6675b43fdb2ee3/reports/data_receipt_2026-08-07.md</a:t>
            </a:r>
          </a:p>
          <a:p xmlns:a="http://schemas.openxmlformats.org/drawingml/2006/main">
            <a:r>
              <a:t>C07: https://github.com/bobshenruililin/Laidlaw-Heat-Project/blob/b103e96c6761f3409fab6f116c6675b43fdb2ee3/scripts/32_cvd_trend_depletion_lag.R</a:t>
            </a:r>
          </a:p>
          <a:p xmlns:a="http://schemas.openxmlformats.org/drawingml/2006/main">
            <a:r>
              <a:t>C08: https://github.com/bobshenruililin/Laidlaw-Heat-Project/blob/b103e96c6761f3409fab6f116c6675b43fdb2ee3/manuscript/covid_period/Manuscript_covid_period_draft.md</a:t>
            </a:r>
          </a:p>
          <a:p xmlns:a="http://schemas.openxmlformats.org/drawingml/2006/main">
            <a:r>
              <a:t>C09: https://github.com/bobshenruililin/Laidlaw-Heat-Project/blob/b103e96c6761f3409fab6f116c6675b43fdb2ee3/outputs/release_chd_hf/tables/table2_core_models.csv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C02: https://github.com/bobshenruililin/Laidlaw-Heat-Project/blob/b103e96c6761f3409fab6f116c6675b43fdb2ee3/reports/data_receipt_2026-08-07.md</a:t>
            </a:r>
          </a:p>
          <a:p xmlns:a="http://schemas.openxmlformats.org/drawingml/2006/main">
            <a:r>
              <a:t>C13: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>C14: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C01: https://github.com/bobshenruililin/Laidlaw-Heat-Project/blob/b103e96c6761f3409fab6f116c6675b43fdb2ee3/reports/meeting_debrief_2026-07-17.md</a:t>
            </a:r>
          </a:p>
          <a:p xmlns:a="http://schemas.openxmlformats.org/drawingml/2006/main">
            <a:r>
              <a:t>C03: https://github.com/bobshenruililin/Laidlaw-Heat-Project/blob/b103e96c6761f3409fab6f116c6675b43fdb2ee3/scripts/31_cvd_core_robustness.R</a:t>
            </a:r>
          </a:p>
          <a:p xmlns:a="http://schemas.openxmlformats.org/drawingml/2006/main">
            <a:r>
              <a:t>C10: https://github.com/bobshenruililin/Laidlaw-Heat-Project/blob/b103e96c6761f3409fab6f116c6675b43fdb2ee3/outputs/calibration_md/md_calibration_f1_2_decision_report.md</a:t>
            </a:r>
          </a:p>
          <a:p xmlns:a="http://schemas.openxmlformats.org/drawingml/2006/main">
            <a:r>
              <a:t>C12: https://github.com/bobshenruililin/Laidlaw-Heat-Project/blob/b103e96c6761f3409fab6f116c6675b43fdb2ee3/knowledge/2026-08-27_crown_df_physiology_policy.md</a:t>
            </a:r>
          </a:p>
          <a:p xmlns:a="http://schemas.openxmlformats.org/drawingml/2006/main">
            <a:r>
              <a:t>C05: https://github.com/bobshenruililin/Laidlaw-Heat-Project/blob/b103e96c6761f3409fab6f116c6675b43fdb2ee3/reports/meeting_debrief_2026-09-10.md</a:t>
            </a:r>
          </a:p>
          <a:p xmlns:a="http://schemas.openxmlformats.org/drawingml/2006/main">
            <a:r>
              <a:t>C06: https://github.com/bobshenruililin/Laidlaw-Heat-Project/blob/b103e96c6761f3409fab6f116c6675b43fdb2ee3/manuscript/covid_period/INDEPENDENT_REVIEW.md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C02: https://github.com/bobshenruililin/Laidlaw-Heat-Project/blob/b103e96c6761f3409fab6f116c6675b43fdb2ee3/reports/data_receipt_2026-08-07.md</a:t>
            </a:r>
          </a:p>
          <a:p xmlns:a="http://schemas.openxmlformats.org/drawingml/2006/main">
            <a:r>
              <a:t>C03: https://github.com/bobshenruililin/Laidlaw-Heat-Project/blob/b103e96c6761f3409fab6f116c6675b43fdb2ee3/scripts/31_cvd_core_robustness.R</a:t>
            </a:r>
          </a:p>
          <a:p xmlns:a="http://schemas.openxmlformats.org/drawingml/2006/main">
            <a:r>
              <a:t>C07: https://github.com/bobshenruililin/Laidlaw-Heat-Project/blob/b103e96c6761f3409fab6f116c6675b43fdb2ee3/scripts/32_cvd_trend_depletion_lag.R</a:t>
            </a:r>
          </a:p>
          <a:p xmlns:a="http://schemas.openxmlformats.org/drawingml/2006/main">
            <a:r>
              <a:t>C08: https://github.com/bobshenruililin/Laidlaw-Heat-Project/blob/b103e96c6761f3409fab6f116c6675b43fdb2ee3/manuscript/covid_period/Manuscript_covid_period_draft.md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https://github.com/bobshenruililin/Laidlaw-Heat-Project/blob/b103e96c6761f3409fab6f116c6675b43fdb2ee3/outputs/tables/cvd_descriptive_annual_totals.csv</a:t>
            </a:r>
          </a:p>
          <a:p xmlns:a="http://schemas.openxmlformats.org/drawingml/2006/main">
            <a:r>
              <a:t>HA_APPROVED_AGGREGATE label inherited from public release. Values=100*annual_total/2013_total; rounded to six decimals in chart data. No monthly reconstruction or health modelling. Count/index, not incidence. CHD:2013=23830,2019=12396,2020=10237,2023=12323. HF:4336,2344,1964,2296.</a:t>
            </a:r>
          </a:p>
          <a:p xmlns:a="http://schemas.openxmlformats.org/drawingml/2006/main">
            <a:r>
              <a:t>Claim C15; register contains source hash.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C07: https://github.com/bobshenruililin/Laidlaw-Heat-Project/blob/b103e96c6761f3409fab6f116c6675b43fdb2ee3/scripts/32_cvd_trend_depletion_lag.R</a:t>
            </a:r>
          </a:p>
          <a:p xmlns:a="http://schemas.openxmlformats.org/drawingml/2006/main">
            <a:r>
              <a:t>C09: https://github.com/bobshenruililin/Laidlaw-Heat-Project/blob/b103e96c6761f3409fab6f116c6675b43fdb2ee3/outputs/release_chd_hf/tables/table2_core_models.csv</a:t>
            </a:r>
          </a:p>
          <a:p xmlns:a="http://schemas.openxmlformats.org/drawingml/2006/main">
            <a:r>
              <a:t>C16: https://github.com/bobshenruililin/Laidlaw-Heat-Project/blob/b103e96c6761f3409fab6f116c6675b43fdb2ee3/outputs/tables/cvd_trend_depletion_sensitivity.csv</a:t>
            </a:r>
          </a:p>
          <a:p xmlns:a="http://schemas.openxmlformats.org/drawingml/2006/main">
            <a:r>
              <a:t>C17: https://github.com/bobshenruililin/Laidlaw-Heat-Project/blob/b103e96c6761f3409fab6f116c6675b43fdb2ee3/outputs/release_chd_hf/tables/table4_uncertainty_ladder.csv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C09: https://github.com/bobshenruililin/Laidlaw-Heat-Project/blob/b103e96c6761f3409fab6f116c6675b43fdb2ee3/outputs/release_chd_hf/tables/table2_core_models.csv</a:t>
            </a:r>
          </a:p>
          <a:p xmlns:a="http://schemas.openxmlformats.org/drawingml/2006/main">
            <a:r>
              <a:t>C10: https://github.com/bobshenruililin/Laidlaw-Heat-Project/blob/b103e96c6761f3409fab6f116c6675b43fdb2ee3/outputs/calibration_md/md_calibration_f1_2_decision_report.md</a:t>
            </a:r>
          </a:p>
          <a:p xmlns:a="http://schemas.openxmlformats.org/drawingml/2006/main">
            <a:r>
              <a:t>C12: https://github.com/bobshenruililin/Laidlaw-Heat-Project/blob/b103e96c6761f3409fab6f116c6675b43fdb2ee3/knowledge/2026-08-27_crown_df_physiology_policy.md</a:t>
            </a:r>
          </a:p>
          <a:p xmlns:a="http://schemas.openxmlformats.org/drawingml/2006/main">
            <a:r>
              <a:t>C18: https://github.com/bobshenruililin/Laidlaw-Heat-Project/blob/b103e96c6761f3409fab6f116c6675b43fdb2ee3/analysis_plan/covid_period/hypothesis_registry.yml</a:t>
            </a:r>
          </a:p>
          <a:p xmlns:a="http://schemas.openxmlformats.org/drawingml/2006/main">
            <a:r>
              <a:t>C20: https://github.com/bobshenruililin/Laidlaw-Heat-Project/blob/b103e96c6761f3409fab6f116c6675b43fdb2ee3/scripts/79_covid_period_rails_checks.py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C13: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>C14: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>C19: https://github.com/bobshenruililin/Laidlaw-Heat-Project/blob/b103e96c6761f3409fab6f116c6675b43fdb2ee3/manuscript/covid_period/Manuscript_covid_period_draft.md</a:t>
            </a:r>
          </a:p>
          <a:p xmlns:a="http://schemas.openxmlformats.org/drawingml/2006/main">
            <a:r>
              <a:t>C08: https://github.com/bobshenruililin/Laidlaw-Heat-Project/blob/b103e96c6761f3409fab6f116c6675b43fdb2ee3/manuscript/covid_period/Manuscript_covid_period_draft.md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C02: https://github.com/bobshenruililin/Laidlaw-Heat-Project/blob/b103e96c6761f3409fab6f116c6675b43fdb2ee3/reports/data_receipt_2026-08-07.md</a:t>
            </a:r>
          </a:p>
          <a:p xmlns:a="http://schemas.openxmlformats.org/drawingml/2006/main">
            <a:r>
              <a:t>C05: https://github.com/bobshenruililin/Laidlaw-Heat-Project/blob/b103e96c6761f3409fab6f116c6675b43fdb2ee3/reports/meeting_debrief_2026-09-10.md</a:t>
            </a:r>
          </a:p>
          <a:p xmlns:a="http://schemas.openxmlformats.org/drawingml/2006/main">
            <a:r>
              <a:t>C06: https://github.com/bobshenruililin/Laidlaw-Heat-Project/blob/b103e96c6761f3409fab6f116c6675b43fdb2ee3/manuscript/covid_period/INDEPENDENT_REVIEW.md</a:t>
            </a:r>
          </a:p>
          <a:p xmlns:a="http://schemas.openxmlformats.org/drawingml/2006/main">
            <a:r>
              <a:t>C07: https://github.com/bobshenruililin/Laidlaw-Heat-Project/blob/b103e96c6761f3409fab6f116c6675b43fdb2ee3/scripts/32_cvd_trend_depletion_lag.R</a:t>
            </a:r>
          </a:p>
          <a:p xmlns:a="http://schemas.openxmlformats.org/drawingml/2006/main">
            <a:r>
              <a:t>C13: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>C14: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exploratory briefing. Gate 3 open; no new health fits.</a:t>
            </a:r>
          </a:p>
          <a:p xmlns:a="http://schemas.openxmlformats.org/drawingml/2006/main">
            <a:r>
              <a:t>C08: https://github.com/bobshenruililin/Laidlaw-Heat-Project/blob/b103e96c6761f3409fab6f116c6675b43fdb2ee3/manuscript/covid_period/Manuscript_covid_period_draft.md</a:t>
            </a:r>
          </a:p>
          <a:p xmlns:a="http://schemas.openxmlformats.org/drawingml/2006/main">
            <a:r>
              <a:t>C09: https://github.com/bobshenruililin/Laidlaw-Heat-Project/blob/b103e96c6761f3409fab6f116c6675b43fdb2ee3/outputs/release_chd_hf/tables/table2_core_models.csv</a:t>
            </a:r>
          </a:p>
          <a:p xmlns:a="http://schemas.openxmlformats.org/drawingml/2006/main">
            <a:r>
              <a:t>C13: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>C14: https://github.com/bobshenruililin/Laidlaw-Heat-Project/blob/b103e96c6761f3409fab6f116c6675b43fdb2ee3/analysis_plan/covid_period/ha_metadata_inventory.md</a:t>
            </a:r>
          </a:p>
          <a:p xmlns:a="http://schemas.openxmlformats.org/drawingml/2006/main">
            <a:r>
              <a:t>C19: https://github.com/bobshenruililin/Laidlaw-Heat-Project/blob/b103e96c6761f3409fab6f116c6675b43fdb2ee3/manuscript/covid_period/Manuscript_covid_period_draft.md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RESEARCH_STATE.md and EVIDENCE_REGISTER.yml for claim status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4b2d6d19a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0b0d45dfc84a90" /><Relationship Type="http://schemas.openxmlformats.org/officeDocument/2006/relationships/slideLayout" Target="/ppt/slideLayouts/slideLayout1.xml" Id="Rb35efe6a92b5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efe6a92b5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853448fd24a2f" /><Relationship Type="http://schemas.openxmlformats.org/officeDocument/2006/relationships/notesSlide" Target="/ppt/notesSlides/notesSlide1.xml" Id="R7c93b6d35275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41afdc1a144ae" /><Relationship Type="http://schemas.openxmlformats.org/officeDocument/2006/relationships/notesSlide" Target="/ppt/notesSlides/notesSlide2.xml" Id="R0198b8023f3a4d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172a478934b30" /><Relationship Type="http://schemas.openxmlformats.org/officeDocument/2006/relationships/notesSlide" Target="/ppt/notesSlides/notesSlide3.xml" Id="Rdad0a5fbb55340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f6ee977674629" /><Relationship Type="http://schemas.openxmlformats.org/officeDocument/2006/relationships/notesSlide" Target="/ppt/notesSlides/notesSlide4.xml" Id="Rceec53119013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dfb0eac454f5f" /><Relationship Type="http://schemas.openxmlformats.org/officeDocument/2006/relationships/chart" Target="/ppt/slides/charts/chart1.xml" Id="Rc257a6fe5a494a9b" /><Relationship Type="http://schemas.openxmlformats.org/officeDocument/2006/relationships/notesSlide" Target="/ppt/notesSlides/notesSlide5.xml" Id="R545a0ca18830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77628722e4ecb" /><Relationship Type="http://schemas.openxmlformats.org/officeDocument/2006/relationships/notesSlide" Target="/ppt/notesSlides/notesSlide6.xml" Id="Re631d3ada007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0a1105cc146b5" /><Relationship Type="http://schemas.openxmlformats.org/officeDocument/2006/relationships/notesSlide" Target="/ppt/notesSlides/notesSlide7.xml" Id="R4cce2b3c008f42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4a6e135cf4e8a" /><Relationship Type="http://schemas.openxmlformats.org/officeDocument/2006/relationships/notesSlide" Target="/ppt/notesSlides/notesSlide8.xml" Id="R324532faf12644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99b3020fc42f0" /><Relationship Type="http://schemas.openxmlformats.org/officeDocument/2006/relationships/notesSlide" Target="/ppt/notesSlides/notesSlide9.xml" Id="Raac48141e2fa4a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d18801bf24e0a" /><Relationship Type="http://schemas.openxmlformats.org/officeDocument/2006/relationships/notesSlide" Target="/ppt/notesSlides/notesSlide10.xml" Id="R7f28cbff483a42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83D47"/>
                </a:solidFill>
                <a:latin typeface="Arial"/>
                <a:ea typeface="Arial"/>
                <a:cs typeface="Arial"/>
              </a:rPr>
              <a:t>Annual recorded first-event totals · index (2013 = 100)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83D47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CHD</c:v>
          </c:tx>
          <c:spPr>
            <a:solidFill xmlns:a="http://schemas.openxmlformats.org/drawingml/2006/main">
              <a:srgbClr val="14685F"/>
            </a:solidFill>
            <a:ln xmlns:a="http://schemas.openxmlformats.org/drawingml/2006/main" w="28575">
              <a:solidFill>
                <a:srgbClr val="14685F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0</c:formatCode>
                <c:ptCount val="11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</c:numCache>
            </c:num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100</c:v>
                </c:pt>
                <c:pt idx="1">
                  <c:v>74.527906</c:v>
                </c:pt>
                <c:pt idx="2">
                  <c:v>64.670583</c:v>
                </c:pt>
                <c:pt idx="3">
                  <c:v>60.889635</c:v>
                </c:pt>
                <c:pt idx="4">
                  <c:v>58.590013</c:v>
                </c:pt>
                <c:pt idx="5">
                  <c:v>52.94167</c:v>
                </c:pt>
                <c:pt idx="6">
                  <c:v>52.018464</c:v>
                </c:pt>
                <c:pt idx="7">
                  <c:v>42.958456</c:v>
                </c:pt>
                <c:pt idx="8">
                  <c:v>50.503567</c:v>
                </c:pt>
                <c:pt idx="9">
                  <c:v>46.479228</c:v>
                </c:pt>
                <c:pt idx="10">
                  <c:v>51.712128</c:v>
                </c:pt>
              </c:numCache>
            </c:numRef>
          </c:val>
          <c:smooth val="0"/>
        </c:ser>
        <c:ser>
          <c:idx val="1"/>
          <c:order val="1"/>
          <c:tx>
            <c:v>HF</c:v>
          </c:tx>
          <c:spPr>
            <a:solidFill xmlns:a="http://schemas.openxmlformats.org/drawingml/2006/main">
              <a:srgbClr val="8C4052"/>
            </a:solidFill>
            <a:ln xmlns:a="http://schemas.openxmlformats.org/drawingml/2006/main" w="28575">
              <a:solidFill>
                <a:srgbClr val="8C4052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0</c:formatCode>
                <c:ptCount val="11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</c:numCache>
            </c:numRef>
          </c:cat>
          <c:val>
            <c:numRef>
              <c:f>'Chart Data'!$D$2:$D$12</c:f>
              <c:numCache>
                <c:formatCode>0</c:formatCode>
                <c:ptCount val="11"/>
                <c:pt idx="0">
                  <c:v>100</c:v>
                </c:pt>
                <c:pt idx="1">
                  <c:v>84.755535</c:v>
                </c:pt>
                <c:pt idx="2">
                  <c:v>67.666052</c:v>
                </c:pt>
                <c:pt idx="3">
                  <c:v>63.053506</c:v>
                </c:pt>
                <c:pt idx="4">
                  <c:v>60.424354</c:v>
                </c:pt>
                <c:pt idx="5">
                  <c:v>58.27952</c:v>
                </c:pt>
                <c:pt idx="6">
                  <c:v>54.059041</c:v>
                </c:pt>
                <c:pt idx="7">
                  <c:v>45.295203</c:v>
                </c:pt>
                <c:pt idx="8">
                  <c:v>52.467712</c:v>
                </c:pt>
                <c:pt idx="9">
                  <c:v>45.571956</c:v>
                </c:pt>
                <c:pt idx="10">
                  <c:v>52.95203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51645-A3A0-415C-BB2B-CF5E113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Research State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F33D1-6637-448D-9544-8985C11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0FFCE-7FEC-4A73-ADEA-47436A4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F5FA0-4FBD-46AC-B9CC-BBF5E880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C02, C07, C08, C09 · source links and limits in notes/register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0139C-FAA8-4F83-A722-73F10A38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Recorded hospitalisations can fall</a:t>
            </a:r>
          </a:p>
          <a:p xmlns:a="http://schemas.openxmlformats.org/drawingml/2006/main">
            <a:pPr>
              <a:defRPr sz="390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without cardiovascular health improving.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23DDE-F635-4408-82B6-341F8C0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85F"/>
                </a:solidFill>
                <a:latin typeface="Arial"/>
                <a:ea typeface="Arial"/>
                <a:cs typeface="Arial"/>
              </a:rPr>
              <a:t>First Auto Research run: epistemic reconstruction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8620B-B8EA-49F3-9EE1-61E27DCE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Current boundary: descriptive counts and exploratory model sensitivity.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COVID mechanisms and the causal target remain unresolved.</a:t>
            </a:r>
          </a:p>
        </p:txBody>
      </p:sp>
    </p:spTree>
    <p:extLst>
      <p:ext uri="{BB962C8B-B14F-4D97-AF65-F5344CB8AC3E}">
        <p14:creationId xmlns:p14="http://schemas.microsoft.com/office/powerpoint/2010/main" val="864174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1D80D-4F3F-457A-A1F5-78ECD397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The outcome is a recorded first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ECBC3-C27D-44CE-80BD-EB7F6D07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19ED-8295-44E2-A405-2A717E8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BA2FA-402D-461F-BBC0-4423F23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C02, C13, C14 · source links and limits in notes/register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E75E3-89A5-456E-B92B-38C3A3A8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AVAILABLE IN THE PUBLIC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0AE98-2FD1-44BE-92FF-2734C20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CHD and HF · territory-month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T2D and/or hypertension population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January 2013–December 2023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132 months per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D9B82-B32E-4A8B-9262-77223922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First hospitalisation after a first diagnosis record.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Query construction remains to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A10EC-F9A8-4FE0-A720-CAB43F28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5257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4052"/>
                </a:solidFill>
                <a:latin typeface="Arial"/>
                <a:ea typeface="Arial"/>
                <a:cs typeface="Arial"/>
              </a:rPr>
              <a:t>UNRESOLVED OR NOT 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5C4C5-506B-4766-9F04-1420324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5219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Admission cause and cohort person-time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Entry/exit, washout and deduplication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Inpatient/date/ICD definitions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Labs, infection, vaccine and serology</a:t>
            </a:r>
          </a:p>
          <a:p xmlns:a="http://schemas.openxmlformats.org/drawingml/2006/main">
            <a:pPr>
              <a:defRPr sz="217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Stroke 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046C0-AE00-4945-9DBC-330F7239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72025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 receipt is evidence of delivery.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It is not a validated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861955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C9C3D-8406-415D-8020-749FBE3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Five transitions explain the 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4E385-2AC3-4F83-80C6-20645BD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D4D6-A454-431E-B381-AA181A84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9F1F7-F798-4A55-9363-9CE5030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C01, C03, C10, C12, C05, C06 · source links and limits in notes/register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31001-DF2F-48F6-B642-98761500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17 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C984B-92AF-4CC6-B6FC-2093E21E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14475"/>
            <a:ext cx="901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Admission reasons absent → AMI framing demoted; monthly aggregates planned.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E7BB9-6A30-4104-8D7C-70B5027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069F9-9A73-4509-9832-8405E849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33625"/>
            <a:ext cx="901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CHD/HF delivered → amended core; no protected primary; daily recovery fails gates.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2133F-6988-4533-97C6-E8A6E161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27 AUG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6BAC8-6906-49D6-85B4-01230F69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52775"/>
            <a:ext cx="901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6-df “crown” preserves preferred intervals → selection history, not corroboration.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7B3D0-197A-45C2-89D6-FE147BE4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10 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EA2EB-D5BD-491D-A668-7EBAE8DF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71925"/>
            <a:ext cx="901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Hogan reportedly proposes COVID direction → same tables acquire a new framing.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768CF-E00A-4412-8552-0BBEA174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12–13 SEP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F6F26-D1EA-441A-B65E-248CA06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91075"/>
            <a:ext cx="901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Candidate repairs narrow the narrative → manuscript authority remains conflicted.</a:t>
            </a:r>
          </a:p>
        </p:txBody>
      </p:sp>
    </p:spTree>
    <p:extLst>
      <p:ext uri="{BB962C8B-B14F-4D97-AF65-F5344CB8AC3E}">
        <p14:creationId xmlns:p14="http://schemas.microsoft.com/office/powerpoint/2010/main" val="1415623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B9882-C74F-493A-AE04-B03B3450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Three objects require three interpretations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9F9C-9C2C-4DC0-AD13-E357691D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7470F-240C-4BD2-8CA4-C6EF7A1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1AC38-6347-4853-AD0E-2A47B2A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C02, C03, C07, C08 · source links and limits in notes/register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191000"/>
                <a:gridCol w="4495800"/>
              </a:tblGrid>
              <a:tr h="895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is measured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Recorded burden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Annual totals of first events in this extraction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Incidence, cause of admission or improved health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Existing model parameter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Weather count ratio conditional on month, time smooth and days offset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A COVID treatment effect or a tested window difference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Proposed causal target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Pandemic-era change in health, service use or recorded events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No agreed intervention, counterfactual or identified target yet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FCDA2-4618-4EF3-87AE-9438152C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685F"/>
                </a:solidFill>
                <a:latin typeface="Arial"/>
                <a:ea typeface="Arial"/>
                <a:cs typeface="Arial"/>
              </a:rPr>
              <a:t>84 months are inside 132. Subsetting changes spline knots and exposure support.</a:t>
            </a:r>
          </a:p>
          <a:p xmlns:a="http://schemas.openxmlformats.org/drawingml/2006/main">
            <a:pPr>
              <a:defRPr sz="1875" b="0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685F"/>
                </a:solidFill>
                <a:latin typeface="Arial"/>
                <a:ea typeface="Arial"/>
                <a:cs typeface="Arial"/>
              </a:rPr>
              <a:t>Five official days is a reporting scale; COVID-phase adjustment is not a third window.</a:t>
            </a:r>
          </a:p>
        </p:txBody>
      </p:sp>
    </p:spTree>
    <p:extLst>
      <p:ext uri="{BB962C8B-B14F-4D97-AF65-F5344CB8AC3E}">
        <p14:creationId xmlns:p14="http://schemas.microsoft.com/office/powerpoint/2010/main" val="687084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B5F34-A7B8-400A-9B75-F8A19CFF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Most endpoint decline occurred before 2020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53DC9-A15A-474E-AAD6-6777871F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2AF92-271B-4C2D-85DA-F9918E41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86732-52DC-4457-8DA6-ACF5D4F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C15 · source links and limits in notes/register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57a6fe5a494a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84583-DA2C-4D00-90BA-934F0BB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2019 was already near half of 2013. A 2020 trough was followed by partial recovery.</a:t>
            </a:r>
          </a:p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This weakens a COVID-only decade explanation; it does not identify either component.</a:t>
            </a:r>
          </a:p>
        </p:txBody>
      </p:sp>
    </p:spTree>
    <p:extLst>
      <p:ext uri="{BB962C8B-B14F-4D97-AF65-F5344CB8AC3E}">
        <p14:creationId xmlns:p14="http://schemas.microsoft.com/office/powerpoint/2010/main" val="358891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52197-1204-41B9-9830-27A31C5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Point estimates move; a difference was not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91A47-6277-483A-8D36-57AD3C0E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6493F-7C1E-40ED-9D39-A8DA596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F30C2-0648-414B-9C6A-8B95D6FC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C07, C09, C16, C17 · source links and limits in notes/register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486150"/>
                <a:gridCol w="3486150"/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 ratio per five days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Nested 84 months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Full 132 months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HF · cold days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1.113 (1.053–1.176)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1.073 (1.006–1.144)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CHD · cold days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1.036 (1.007–1.067)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0.995 (0.949–1.043)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CHD · hot nights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1.011 (0.991–1.032)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1.022 (1.002–1.042)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E639-7570-4458-93D4-3B10F389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Existing Newey–West lag-6 intervals. Full-window BH q-values all exceed 0.19;</a:t>
            </a:r>
          </a:p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nested fits are outside that multiplicity family.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7F341-3305-4225-8110-059B2F71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Overlapping samples + re-knotted trend ≠ independent pre/post contrast.</a:t>
            </a:r>
          </a:p>
        </p:txBody>
      </p:sp>
    </p:spTree>
    <p:extLst>
      <p:ext uri="{BB962C8B-B14F-4D97-AF65-F5344CB8AC3E}">
        <p14:creationId xmlns:p14="http://schemas.microsoft.com/office/powerpoint/2010/main" val="1530347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FC011-4083-48D0-B552-6E3C476C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Keep failures at the scope actually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B1037-4C0D-43A3-830A-B180CA0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2B177-7C1C-4FCA-9A5A-7E7D9517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A5644-A759-45D2-91D3-09DC1731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C09, C10, C12, C18, C20 · source links and limits in notes/register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6017B-63EB-4EA9-85C4-DF93881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40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4052"/>
                </a:solidFill>
                <a:latin typeface="Arial"/>
                <a:ea typeface="Arial"/>
                <a:cs typeface="Arial"/>
              </a:rPr>
              <a:t>Method admission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65959-36BC-419C-ADA2-261BAFEC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Synthetic daily-recovery calibration: Type I error reached 0.150; coverage fell to 0.840.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 failure of the tested implementation/scenarios, not a universal aggregation theorem.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DB28-B1AE-4BA6-B3A2-1D84FDA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40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4052"/>
                </a:solidFill>
                <a:latin typeface="Arial"/>
                <a:ea typeface="Arial"/>
                <a:cs typeface="Arial"/>
              </a:rPr>
              <a:t>Discovery and mechanism claims remain unlicensed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94D34-DAD3-4D3D-AD52-6172914C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No protected thermal discovery does not prove no effect. Missing clinical measures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do not falsify every biological explanation. The 6-df crown is result-dependent.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71EDC-97FB-484F-8BBC-758C984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Checks need semantic inspection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FFD02-3E7D-4F4C-ABE1-A3770650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Legacy auditor: one-check pass on the wrong schema. Dedicated rails verify display,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sources and document contracts; numerical agreement does not identify causes.</a:t>
            </a:r>
          </a:p>
        </p:txBody>
      </p:sp>
    </p:spTree>
    <p:extLst>
      <p:ext uri="{BB962C8B-B14F-4D97-AF65-F5344CB8AC3E}">
        <p14:creationId xmlns:p14="http://schemas.microsoft.com/office/powerpoint/2010/main" val="579361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8536-9F61-42C6-B227-C3F6608C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Four rival families need different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B3D16-394E-471A-8ADC-3A32B527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2B4E0-640E-4D42-961A-DECAA12E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17BA5-8AF8-41C5-8F14-EA93790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C13, C14, C19, C08 · source links and limits in notes/register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781550"/>
                <a:gridCol w="3409950"/>
              </a:tblGrid>
              <a:tr h="8534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Rival family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Pattern that would help distinguish it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needed</a:t>
                      </a:r>
                    </a:p>
                  </a:txBody>
                  <a:tcPr marL="133350" marR="133350" marT="114300" marB="95250" anchor="ctr">
                    <a:solidFill>
                      <a:srgbClr val="18334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Entry / risk set / extraction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Movement follows eligibility, look-back or cohort entry/exit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Query provenance; dynamic denominators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Utilisation / competing death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Fewer contacts with delayed care or increased out-of-hospital death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Service, diagnosis and mortality linkage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Biology / co-exposures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Clinical risk or infection/pollution changes beyond recording effects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Specified clinical measures and comparison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Model / support / uncertainty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Movement follows knots, support, influence or covariance choice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D47"/>
                          </a:solidFill>
                          <a:latin typeface="Arial"/>
                          <a:ea typeface="Arial"/>
                          <a:cs typeface="Arial"/>
                        </a:rPr>
                        <a:t>Bounded, prespecified diagnostics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20E44-F601-49A6-96D1-13DC5BE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These explanations can coexist. Current counts do not discriminate them.</a:t>
            </a:r>
          </a:p>
        </p:txBody>
      </p:sp>
    </p:spTree>
    <p:extLst>
      <p:ext uri="{BB962C8B-B14F-4D97-AF65-F5344CB8AC3E}">
        <p14:creationId xmlns:p14="http://schemas.microsoft.com/office/powerpoint/2010/main" val="1287026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721B5-F60E-40ED-8610-C7A66F60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Five questions change the next research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8DFD7-9B97-4F6F-B237-130A711A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71C01-C32E-4A5C-A79F-8094E72F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1F070-818C-4187-8D56-1BF657B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C02, C05, C06, C07, C13, C14 · source links and limits in notes/register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7004C-FA53-4BC3-8027-2F505BCB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1 · WHAT IS A FIRST EVENT?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CC7CA-1E93-4437-A7C9-9B28F210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Roro/DAE: confirm query, dates, entry/exit, washout, ICD and inpatient definition.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26F63-EC3B-4CCA-9D97-F8ECA1A4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2 · WHAT CHANGED IN THE PANDEMIC ERA?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9E18F-4CDC-4B8F-ADD0-92A23CE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Agent + Hogan: specify a deviation beyond the earlier decline and its counterfactual.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78CA7-B558-475A-A6B9-CBE02AD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3 · CAN HEALTH AND OBSERVATION BE SEPARATED?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F56C9-EF2C-4D97-B6E6-0BCA145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Roro/Bishai: assess risk-set, service, diagnosis and mortality evidence feasibility.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F88A1-C83B-4063-934E-B9F1FD4B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4 · WHY DO COEFFICIENTS MOVE?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0B756-700E-4C5F-90A0-B554A60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Agent: separate spline basis, support, influence, uncertainty and effect modification.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F736D-0A28-4E8E-95AB-A596128A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5 · WHICH TARGET AND DOCUMENT DOES THE TEAM ENDORSE?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42F69-8BDA-4CCD-BA65-DD6B3999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Bob/Hogan/Bishai: resolve authority; choose narrowing, evidence acquisition, pivot or stop.</a:t>
            </a:r>
          </a:p>
        </p:txBody>
      </p:sp>
    </p:spTree>
    <p:extLst>
      <p:ext uri="{BB962C8B-B14F-4D97-AF65-F5344CB8AC3E}">
        <p14:creationId xmlns:p14="http://schemas.microsoft.com/office/powerpoint/2010/main" val="1059083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F12D8-74C2-4DF4-BB77-728C6D6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43"/>
                </a:solidFill>
                <a:latin typeface="Arial"/>
                <a:ea typeface="Arial"/>
                <a:cs typeface="Arial"/>
              </a:rPr>
              <a:t>Phase 2 begins with discriminating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54F2-181D-4945-87B1-63ACF061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LAIDLAW · INTERNAL RESEARCH STATE · 2 OCT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B7D2A-0186-435C-84EF-86175235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E022D-AB13-4B70-8337-10748C9B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9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6971"/>
                </a:solidFill>
                <a:latin typeface="Arial"/>
                <a:ea typeface="Arial"/>
                <a:cs typeface="Arial"/>
              </a:rPr>
              <a:t>Sources: C08, C09, C13, C14, C19 · source links and limits in notes/register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5238F-D88C-47DA-98CD-91B310FE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NOW · Retain the recorded-count and sensitivity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50E15-128C-4F92-B0FA-4C783A88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Freeze this reconstruction as a reviewable starting point. Resolve event construction,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scientific target and document authority before another manuscript 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8B42E-7A88-4C9A-86B5-4B2C2584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68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685F"/>
                </a:solidFill>
                <a:latin typeface="Arial"/>
                <a:ea typeface="Arial"/>
                <a:cs typeface="Arial"/>
              </a:rPr>
              <a:t>IF EVIDENCE IS FEASIBLE · Design severe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93C8-1603-4111-B529-D0233D9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Use a causal graph; state rival predictions, meaningful contrasts and rejection rules.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Ask what the model fails to explain and whether the test can detect that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A8E89-E81B-4D77-9608-2DC658DA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40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4052"/>
                </a:solidFill>
                <a:latin typeface="Arial"/>
                <a:ea typeface="Arial"/>
                <a:cs typeface="Arial"/>
              </a:rPr>
              <a:t>IF RIVALS CANNOT BE SEPARATED · Narrow, pivot or 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FF5F9-52D0-4CEB-AD21-31FC267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 progressive move gains new independent predictions. Rescuing a headline with</a:t>
            </a:r>
          </a:p>
          <a:p xmlns:a="http://schemas.openxmlformats.org/drawingml/2006/main">
            <a:pPr>
              <a:defRPr sz="2025" b="0">
                <a:solidFill>
                  <a:srgbClr val="283D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D47"/>
                </a:solidFill>
                <a:latin typeface="Arial"/>
                <a:ea typeface="Arial"/>
                <a:cs typeface="Arial"/>
              </a:rPr>
              <a:t>another preferred fit is not evidence of progress. Gate 3 remains human-owned.</a:t>
            </a:r>
          </a:p>
        </p:txBody>
      </p:sp>
    </p:spTree>
    <p:extLst>
      <p:ext uri="{BB962C8B-B14F-4D97-AF65-F5344CB8AC3E}">
        <p14:creationId xmlns:p14="http://schemas.microsoft.com/office/powerpoint/2010/main" val="1486114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2026-10-02T01:37:31.7740000Z</dcterms:created>
  <dcterms:modified xsi:type="dcterms:W3CDTF">2026-10-02T01:37:31.7740000Z</dcterms:modified>
</coreProperties>
</file>